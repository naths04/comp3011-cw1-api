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B4D8"/>
                </a:solidFill>
              </a:defRPr>
            </a:pPr>
            <a:r>
              <a:t>EventHub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</a:defRPr>
            </a:pPr>
            <a:r>
              <a:t>Event &amp; RSVP Management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0B8C8"/>
                </a:solidFill>
              </a:defRPr>
            </a:pPr>
            <a:r>
              <a:t>Nathaniel Sebastian  (sc232ns)</a:t>
            </a:r>
          </a:p>
          <a:p>
            <a:pPr>
              <a:spcAft>
                <a:spcPts val="600"/>
              </a:spcAft>
              <a:defRPr sz="1800">
                <a:solidFill>
                  <a:srgbClr val="B0B8C8"/>
                </a:solidFill>
              </a:defRPr>
            </a:pPr>
            <a:r>
              <a:t>COMP3011 – Web Services and Web Data</a:t>
            </a:r>
          </a:p>
          <a:p>
            <a:pPr>
              <a:spcAft>
                <a:spcPts val="600"/>
              </a:spcAft>
              <a:defRPr sz="1800">
                <a:solidFill>
                  <a:srgbClr val="B0B8C8"/>
                </a:solidFill>
              </a:defRPr>
            </a:pPr>
            <a:r>
              <a:t>University of Leeds  •  February 2026</a:t>
            </a:r>
          </a:p>
          <a:p>
            <a:pPr>
              <a:spcAft>
                <a:spcPts val="600"/>
              </a:spcAft>
              <a:defRPr sz="18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B0B8C8"/>
                </a:solidFill>
              </a:defRPr>
            </a:pPr>
            <a:r>
              <a:t>🔗  comp3011-cw1-api.onrender.com</a:t>
            </a:r>
          </a:p>
          <a:p>
            <a:pPr>
              <a:spcAft>
                <a:spcPts val="600"/>
              </a:spcAft>
              <a:defRPr sz="1800">
                <a:solidFill>
                  <a:srgbClr val="B0B8C8"/>
                </a:solidFill>
              </a:defRPr>
            </a:pPr>
            <a:r>
              <a:t>📂  github.com/NathS04/comp3011-cw1-api</a:t>
            </a:r>
          </a:p>
        </p:txBody>
      </p:sp>
      <p:pic>
        <p:nvPicPr>
          <p:cNvPr id="6" name="Picture 5" descr="swagger_ui_top_17707260736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0"/>
            <a:ext cx="45720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</a:defRPr>
            </a:pPr>
            <a:r>
              <a:t>❌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</a:defRPr>
            </a:pPr>
            <a:r>
              <a:t>Student societies lack event management tools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</a:defRPr>
            </a:pPr>
            <a:r>
              <a:t>No centralised RSVP tracking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</a:defRPr>
            </a:pPr>
            <a:r>
              <a:t>Manual attendance, no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029200" cy="2560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CC71"/>
                </a:solidFill>
              </a:defRPr>
            </a:pPr>
            <a:r>
              <a:t>✅ 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</a:defRPr>
            </a:pPr>
            <a:r>
              <a:t>RESTful API with JWT Authentication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</a:defRPr>
            </a:pPr>
            <a:r>
              <a:t>Full CRUD for Events, Attendees, RSVPs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</a:defRPr>
            </a:pPr>
            <a:r>
              <a:t>Real-world data integration (Leeds TEN Dataset)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</a:defRPr>
            </a:pPr>
            <a:r>
              <a:t>Analytics: seasonality, trending, recommendations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</a:defRPr>
            </a:pPr>
            <a:r>
              <a:t>Production-grade security (RBAC, headers, ETag)</a:t>
            </a:r>
          </a:p>
        </p:txBody>
      </p:sp>
      <p:pic>
        <p:nvPicPr>
          <p:cNvPr id="10" name="Picture 9" descr="swagger_ui_middle_17707261025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_diagram_1770726209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Security &amp; Advanced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curity_features_1770726231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  <a:r>
              <a:t>🔒  JWT (PBKDF2-SHA256, 30-min expiry)</a:t>
            </a:r>
          </a:p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  <a:r>
              <a:t>🛡️  RBAC: /admin/* → 403 for non-admin</a:t>
            </a:r>
          </a:p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  <a:r>
              <a:t>⚡  Rate Limiting: 120/min global, 10/min login</a:t>
            </a:r>
          </a:p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  <a:r>
              <a:t>📋  7 Security Headers on ALL responses</a:t>
            </a:r>
          </a:p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  <a:r>
              <a:t>🔄  ETag/304 (RFC 7232) on /events</a:t>
            </a:r>
          </a:p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  <a:r>
              <a:t>🚫  500s sanitized — no stack traces</a:t>
            </a:r>
          </a:p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  <a:r>
              <a:t>📍  X-Request-ID tracing on every response</a:t>
            </a:r>
          </a:p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B0B8C8"/>
                </a:solidFill>
              </a:defRPr>
            </a:pPr>
            <a:r>
              <a:t>All verified by 41 automated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21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</a:defRPr>
            </a:pPr>
            <a: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POST /auth/register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POST /auth/login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Events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POST /events (auth)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/events (paginated)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/events/{id}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PATCH /events/{id} (auth)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DELETE /events/{id} (auth)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B8C8"/>
                </a:solidFill>
              </a:defRPr>
            </a:pPr>
            <a:r>
              <a:t>Attendees &amp; RSVPs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544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POST /attendees (auth)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/attendees/{id}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/attendees/{id}/events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POST /events/{id}/rsvps (auth)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/events/{id}/rsvps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DELETE /events/{id}/rsvps/{id} (auth)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5544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/analytics/events/seasonality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/analytics/events/trending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/events/recommendations (auth)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Admin (RBAC)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5544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POST /admin/imports/run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/admin/imports</a:t>
            </a:r>
          </a:p>
          <a:p>
            <a:pPr>
              <a:spcAft>
                <a:spcPts val="600"/>
              </a:spcAft>
              <a:defRPr sz="1100">
                <a:solidFill>
                  <a:srgbClr val="B0B8C8"/>
                </a:solidFill>
              </a:defRPr>
            </a:pPr>
            <a:r>
              <a:t>GET /admin/dataset/meta</a:t>
            </a:r>
          </a:p>
        </p:txBody>
      </p:sp>
      <p:pic>
        <p:nvPicPr>
          <p:cNvPr id="14" name="Picture 13" descr="swagger_ui_bottom_17707260899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188720"/>
            <a:ext cx="4114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Novel Data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</a:defRPr>
            </a:pPr>
            <a:r>
              <a:t>Leeds City Council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Temporary Event Notices (TEN)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📦  Source: Data Mill North (XML format)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📜  License: Open Government Licence v3.0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🔗  Auto-import via /admin/imports/run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Provenance Tracking: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SHA256 hash of source file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ImportRun audit table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Timestamp, duration, row counts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Source URL + version metadata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Why this dataset?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Real UK public events data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XML parsing demonstrates data pipeline skills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Provenance = enterprise-grade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</a:defRPr>
            </a:pPr>
            <a:r>
              <a:t>Import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1. Admin triggers POST /admin/imports/run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2. System fetches XML from Data Mill North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3. SHA256 hash computed for provenance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4. XML parsed → Event objects created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5. ImportRun record saved with metadata: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source_url, sha256_hash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rows_imported, rows_skipped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duration_seconds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6. Events available via GET /events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GET /admin/imports → full audit history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GET /admin/dataset/meta → source metadata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Testing &amp; 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ECC71"/>
                </a:solidFill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8C8"/>
                </a:solidFill>
              </a:defRPr>
            </a:pPr>
            <a:r>
              <a:t>tests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test_auth.py — JWT register/login/token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test_events.py — Full CRUD lifecycle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test_attendees.py — Attendee management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test_rsvps.py — RSVP + duplicate rejection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test_analytics.py — Seasonality/trending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test_admin.py — Import + dataset meta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test_admin_security.py — RBAC 401/403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test_etags.py — ETag + 304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test_headers_security.py — 7 headers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test_middleware.py — Rate limit 429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test_dataset_provenance.py — SHA256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test_health.py — /health fields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test_admin_errors.py — Error cases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✅  test_import.py — Import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</a:defRPr>
            </a:pPr>
            <a:r>
              <a:t>Error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404 — not found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401 — unauthorised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403 — forbidden (RBAC)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409 — duplicate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429 — rate limited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500 — sanitized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All include: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  X-Request-ID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</a:defRPr>
            </a:pPr>
            <a:r>
              <a:t>  Security headers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Live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</a:defRPr>
            </a:pPr>
            <a:r>
              <a:t>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🌐  comp3011-cw1-api.onrender.com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Infrastructure: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Python 3.x runtime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Managed PostgreSQL database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Auto-deploy from GitHub main branch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render.yaml (Infrastructure as Code)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Configuration: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ENVIRONMENT = prod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RATE_LIMIT_ENABLED = true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ALLOWED_ORIGINS = restricted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SECRET_KEY = auto-generated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Environment Detection: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RENDER env var → always prod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load_dotenv() skipped on Render</a:t>
            </a:r>
          </a:p>
        </p:txBody>
      </p:sp>
      <p:pic>
        <p:nvPicPr>
          <p:cNvPr id="7" name="Picture 6" descr="health_check_prod_17707261224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Version Control &amp; Commit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7432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ECC71"/>
                </a:solidFill>
              </a:defRPr>
            </a:pPr>
            <a:r>
              <a:t>126+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8"/>
                </a:solidFill>
              </a:defRPr>
            </a:pPr>
            <a:r>
              <a:t>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Recent Commits (git log --oneline)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f30a13b fix(docs): correct header count 6→7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a7eb512 fix(config): bulletproof env detection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51c27c1 fix(test): use fixture in header tests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dca5aa6 docs(claude): regenerate PDFs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23b7054 fix(test): use fixture for etag tests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f72a36b fix(config): rate limit true/1 + clean zip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fa1f4e5 docs(verify): bulletproof verification steps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6d2a33d docs(slides): align narrative + viva prep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acfb22c docs(genai): final audit-ready logs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5d31b97 docs(report): finalize evidence + tradeoffs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38168e5 docs(api): finalize errors/headers/etag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f9d7fe6 docs(readme): sync final features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cfaca6c test(final): ensure &gt;=39 tests and green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342473d fix(errors): sanitize all 500s, no leakage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37d5574 feat(etag): ETag + 304 for list +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</a:defRPr>
            </a:pPr>
            <a: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Conventional Commits: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feat: / fix: / docs: / test: / chore: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Each commit is: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Logically atomic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Verified by test suite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Reviewable in isolation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Branch strategy: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Direct to main (solo project)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   • CI equivalent: pytest on every change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No monolithic dumps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Clear separation of concerns</a:t>
            </a:r>
          </a:p>
          <a:p>
            <a:pPr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Feature → Bug Fix → Docs →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Creative GenAI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7315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Google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</a:defRPr>
            </a:pPr>
            <a:r>
              <a:t>Architecture, code generation, deployment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7315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</a:defRPr>
            </a:pPr>
            <a:r>
              <a:t>Documentation QA, PDF generation, consistency audits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7315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ChatGPT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</a:defRPr>
            </a:pPr>
            <a:r>
              <a:t>Research, alternative exploration, debugging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Design Decisions Explored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1. RSVP: embedded vs relational → chose relational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2. Rate limiting: in-memory vs Redis → in-memory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3. ETag: manual vs library → manual (RFC 7232)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4. Middleware order: security-first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</a:defRPr>
            </a:pPr>
            <a:r>
              <a:t>Failures &amp; Lessons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❌ Missing `requests` → ModuleNotFoundError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   → Added to requirements.txt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❌ Placeholder test with `pass`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   → False coverage; replaced with real assertions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❌ Deprecated Query(regex=...)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   → Updated to modern Pydantic validation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❌ Headers missing from 429 responses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   → Fixed middleware to apply headers to ALL paths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</a:defRPr>
            </a:pPr>
            <a:r>
              <a:t>Full logs: docs/GENAI_EXPORT_LOGS.pdf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B4D8"/>
                </a:solidFill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459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8"/>
                </a:solidFill>
              </a:defRPr>
            </a:pPr>
            <a:r>
              <a:t>API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371600"/>
            <a:ext cx="16459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8"/>
                </a:solidFill>
              </a:defRPr>
            </a:pPr>
            <a:r>
              <a:t>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16459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126+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8"/>
                </a:solidFill>
              </a:defRPr>
            </a:pPr>
            <a:r>
              <a:t>Commits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16459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8"/>
                </a:solidFill>
              </a:defRPr>
            </a:pPr>
            <a:r>
              <a:t>Security Headers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16459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8"/>
                </a:solidFill>
              </a:defRPr>
            </a:pPr>
            <a:r>
              <a:t>Data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371600"/>
            <a:ext cx="16459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8C8"/>
                </a:solidFill>
              </a:defRPr>
            </a:pPr>
            <a:r>
              <a:t>GenAI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B0B8C8"/>
                </a:solidFill>
              </a:defRPr>
            </a:pPr>
            <a:r>
              <a:t>✅  Production-grade API with comprehensive security</a:t>
            </a:r>
          </a:p>
          <a:p>
            <a:pPr>
              <a:spcAft>
                <a:spcPts val="600"/>
              </a:spcAft>
              <a:defRPr sz="2000">
                <a:solidFill>
                  <a:srgbClr val="B0B8C8"/>
                </a:solidFill>
              </a:defRPr>
            </a:pPr>
            <a:r>
              <a:t>✅  Novel data integration with provenance tracking</a:t>
            </a:r>
          </a:p>
          <a:p>
            <a:pPr>
              <a:spcAft>
                <a:spcPts val="600"/>
              </a:spcAft>
              <a:defRPr sz="2000">
                <a:solidFill>
                  <a:srgbClr val="B0B8C8"/>
                </a:solidFill>
              </a:defRPr>
            </a:pPr>
            <a:r>
              <a:t>✅  Publication-quality documentation (6 deliverables)</a:t>
            </a:r>
          </a:p>
          <a:p>
            <a:pPr>
              <a:spcAft>
                <a:spcPts val="600"/>
              </a:spcAft>
              <a:defRPr sz="2000">
                <a:solidFill>
                  <a:srgbClr val="B0B8C8"/>
                </a:solidFill>
              </a:defRPr>
            </a:pPr>
            <a:r>
              <a:t>✅  Creative GenAI usage with honest failure analysis</a:t>
            </a:r>
          </a:p>
          <a:p>
            <a:pPr>
              <a:spcAft>
                <a:spcPts val="600"/>
              </a:spcAft>
              <a:defRPr sz="2000">
                <a:solidFill>
                  <a:srgbClr val="B0B8C8"/>
                </a:solidFill>
              </a:defRPr>
            </a:pPr>
            <a:r>
              <a:t>✅  126+ incremental commits with clean history</a:t>
            </a:r>
          </a:p>
          <a:p>
            <a:pPr>
              <a:spcAft>
                <a:spcPts val="600"/>
              </a:spcAft>
              <a:defRPr sz="2000">
                <a:solidFill>
                  <a:srgbClr val="B0B8C8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B0B8C8"/>
                </a:solidFill>
              </a:defRPr>
            </a:pPr>
            <a:r>
              <a:t>🔗  Live: comp3011-cw1-api.onrender.com</a:t>
            </a:r>
          </a:p>
          <a:p>
            <a:pPr>
              <a:spcAft>
                <a:spcPts val="600"/>
              </a:spcAft>
              <a:defRPr sz="2000">
                <a:solidFill>
                  <a:srgbClr val="B0B8C8"/>
                </a:solidFill>
              </a:defRPr>
            </a:pPr>
            <a:r>
              <a:t>📂  Code: github.com/NathS04/comp3011-cw1-api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